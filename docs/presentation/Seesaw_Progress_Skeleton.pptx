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Open with one-sentence framing: what the setup is, what we set out to do, and where we stand today. Emphasize this is a progress update — honest about what works and what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This is the roadmap for the talk. Keep it short (~30s). Point out that most of the time will be on control strategies and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Frame this as: underactuated system is hard, that's the point. We want to show what we've tried — even when it hasn't fully worked — and what we've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Nathan or Kaipeng</a:t>
            </a:r>
          </a:p>
          <a:p>
            <a:r>
              <a:t>Add a clean photo of the rig. Point out the two coordinates and the single actuation — this is what makes it underactuated.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Nathan or Kaipeng — this is the modelling block. Karim is not going to speak on this. Walk through the Lagrangian briefly, show the EoM and TF. Keep equations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Nathan or Kaipeng</a:t>
            </a:r>
          </a:p>
          <a:p>
            <a:r>
              <a:t>Emphasize: (1) the coupling terms, (2) why we linearize around horizontal equilibrium, (3) the limits of that linearization.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Nathan or Kaipeng</a:t>
            </a:r>
          </a:p>
          <a:p>
            <a:r>
              <a:t>State the state vector clearly. Say whether (A,B) is controllable and where the open-loop poles sit. This motivates the need for active stabilization.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Explain WHY these three parameters — they dominate the low-frequency gain and damping, and they are the ones with the largest uncertainty from datasheets. Brief mention of the cost function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Walk through the Bode plot: point to where theory and measurement disagree, and how the tuned model closes most of that gap. Be honest about what's still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At 2 Hz we test the low-frequency behaviour. Highlight phase agreement and any amplitude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</a:t>
            </a:r>
          </a:p>
          <a:p>
            <a:r>
              <a:t>At 8 Hz the model starts to show its limits. Use this as the segue: 'the model is good enough to design linear controllers — now let's see how those controllers 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Whoever ran the PID experiments. Keep this short — one plot of the closed-loop step response is enough. This is the warm-up exercise, not the main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Kaipeng and Yawen. This is the setup slide before your LQR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Kaipeng and Yawen.</a:t>
            </a:r>
          </a:p>
          <a:p>
            <a:r>
              <a:t>Walk through how you picked Q and R — this is exactly the part the reviewers want to see. If you used Bryson's rule to get started, say so. Show the final K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Kaipeng and Yawen. Drop your plots here — one per sub-bullet is fine. Be explicit about any failure modes; they're informative.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Kaipeng and Yawen. Short — just contrast with LQR. One comparison plot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Whichever team members explored alternative strategies. The point of this slide is to show breadth of effort — even partial / failed attempts belong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Whoever is leading Experience 3. If nothing is running yet, say so — and describe the planned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Whole team — each person owns one bullet. This is the slide that proves we thought about this seriously.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Karim.</a:t>
            </a:r>
          </a:p>
          <a:p>
            <a:r>
              <a:t>Close by being explicit: here is what's done, here is what's in flight, here is what we plan to do next. Reviewers value honesty about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OWNER: Team — whoever is presenting should take the first question and route it.</a:t>
            </a:r>
          </a:p>
          <a:p>
            <a:r>
              <a:t>Prepare: (1) a full parameter table, (2) full state-space matrices, (3) any plots cut from the main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The Seesaw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i="1">
                <a:solidFill>
                  <a:srgbClr val="E6ECF4"/>
                </a:solidFill>
              </a:rPr>
              <a:t>Modelling and Control of a Cart-on-Seesaw System —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9D3E4"/>
                </a:solidFill>
              </a:rPr>
              <a:t>054702 — Automation and Control Laboratory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E5C"/>
                </a:solidFill>
              </a:rPr>
              <a:t>Team:</a:t>
            </a:r>
          </a:p>
          <a:p>
            <a:r>
              <a:rPr sz="1600" b="0">
                <a:solidFill>
                  <a:srgbClr val="222B38"/>
                </a:solidFill>
              </a:rPr>
              <a:t>Negm Karim  ·  Hu Kaipeng  ·  Yan Yawen  ·  Zeep Nathan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5029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E5C"/>
                </a:solidFill>
              </a:rPr>
              <a:t>Supervisors:</a:t>
            </a:r>
          </a:p>
          <a:p>
            <a:r>
              <a:rPr sz="1400" b="0">
                <a:solidFill>
                  <a:srgbClr val="222B38"/>
                </a:solidFill>
              </a:rPr>
              <a:t>Prof. Ruiz Fredy</a:t>
            </a:r>
          </a:p>
          <a:p>
            <a:r>
              <a:rPr sz="1400" b="0">
                <a:solidFill>
                  <a:srgbClr val="222B38"/>
                </a:solidFill>
              </a:rPr>
              <a:t>Cordoba Andres</a:t>
            </a:r>
          </a:p>
          <a:p>
            <a:r>
              <a:rPr sz="1400" b="0">
                <a:solidFill>
                  <a:srgbClr val="222B38"/>
                </a:solidFill>
              </a:rPr>
              <a:t>Academic Year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Project context and objectives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Experimental setup: cart + seesaw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Modelling — from physics to state-space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Model tuning and experimental validation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Control strategies under investigation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Cart position control (PID)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Body stabilization with LQR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Pole-placement state feedback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Trajectory tracking &amp; lift-up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Status, challenges,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2/21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Project Motivation and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Underactuated mechanical system: cart on a free-rotating seesaw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Classical benchmark for nonlinear, coupled dynamics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Goals of the project: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Build a reliable physical model of the plant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Validate the model against the real setup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Design and compare control strategies (PID, LQR, pole placement, …)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Achieve body stabilization and periodic trajectory tracking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Deliverable: documented pipeline from modelling → tuning → control → experiment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3/21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Experimental Setup</a:t>
            </a:r>
          </a:p>
          <a:p>
            <a:r>
              <a:rPr sz="1600" i="1">
                <a:solidFill>
                  <a:srgbClr val="6C7585"/>
                </a:solidFill>
              </a:rPr>
              <a:t>Cart on a rail mounted on a free-rotating seesaw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Nathan / Kaipeng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Two configurations used: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</a:rPr>
              <a:t>–   Cart only — 1 DoF: cart position x_c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</a:rPr>
              <a:t>–   Cart + seesaw — 2 DoF: (x_c, θ)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Actuation: DC motor driving cart via pinion/rack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Sensing: encoders on cart position and seesaw angle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Datasheet parameters refined experimentally (see tuning section)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[ ADD: photo of the setup — side view highlighting x_c and θ ]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737360"/>
            <a:ext cx="5029200" cy="3474720"/>
          </a:xfrm>
          <a:prstGeom prst="rect">
            <a:avLst/>
          </a:prstGeom>
          <a:solidFill>
            <a:srgbClr val="EAEEF2"/>
          </a:solidFill>
          <a:ln w="12700">
            <a:solidFill>
              <a:srgbClr val="6C75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6C7585"/>
                </a:solidFill>
              </a:rPr>
              <a:t>[ figure placeholder ]
Photo of physical setup (to add)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4/21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Modelling — Cart Dynamics</a:t>
            </a:r>
          </a:p>
          <a:p>
            <a:r>
              <a:rPr sz="1600" i="1">
                <a:solidFill>
                  <a:srgbClr val="6C7585"/>
                </a:solidFill>
              </a:rPr>
              <a:t>Single-DoF Euler–Lagrange derivation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Nathan / Kaipeng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Equivalent inertia includes motor + gearbox:  M_e = M_c + J_m K_g² / r_mp²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Motor force:  F_c = α·v − B_emf · ẋ_c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Equation of motion (linear, 2nd-order):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M_e ẍ_c + (B_eq,c + B_emf) ẋ_c = α · v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Transfer function:  G(s) = α / [M_e s² + B_tot s]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Integrator + 1st-order pole ⇒ simple structure for PID design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clean block diagram or free-body sketch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5/21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Modelling — Cart + Seesaw Dynamics</a:t>
            </a:r>
          </a:p>
          <a:p>
            <a:r>
              <a:rPr sz="1600" i="1">
                <a:solidFill>
                  <a:srgbClr val="6C7585"/>
                </a:solidFill>
              </a:rPr>
              <a:t>Coupled nonlinear system via Euler–Lagrange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Nathan / Kaipeng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Lagrangian L = T − V built on generalized coords (x_c, θ)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Kinetic + potential energy include coupling between cart and seesaw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Two coupled nonlinear equations: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translational dynamics of the cart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rotational dynamics of the seesaw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Nonlinearities: sin(θ), cos(θ), centripetal ẋ_c θ̇, Coriolis-like terms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Linearization around θ ≈ 0 used for control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6/21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State-Space Representation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Nathan / Kaipeng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State vector:  x = [x_c, θ, ẋ_c, θ̇]ᵀ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Input:  u = v  (motor voltage)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Linearized system:  ẋ = A x + B u,   y = C x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A, B obtained from the linearization of the coupled EoM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Checks performed: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controllability of (A, B)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observability of (A, C)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open-loop pole locations → instability of horizontal equilibrium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This SS model is the foundation for LQR and pole-placement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7/21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 Tuning — Approach</a:t>
            </a:r>
          </a:p>
          <a:p>
            <a:r>
              <a:rPr sz="1600" i="1">
                <a:solidFill>
                  <a:srgbClr val="6C7585"/>
                </a:solidFill>
              </a:rPr>
              <a:t>Fitting the model to the real plant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Datasheet values assumed correct for most parameters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Focused tuning on three uncertain quantities: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viscous damping coefficient  B_eq,c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planetary gearbox efficiency  η_g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motor efficiency  η_m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Excitation: sinusoidal voltage inputs at multiple frequencies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Objective: match both frequency response (Bode) and time response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Iterative fit on experimental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8/21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 Validation — Frequency Domain</a:t>
            </a:r>
          </a:p>
          <a:p>
            <a:r>
              <a:rPr sz="1600" i="1">
                <a:solidFill>
                  <a:srgbClr val="6C7585"/>
                </a:solidFill>
              </a:rPr>
              <a:t>Measured vs. theoretical vs. tuned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Frequency sweep of the cart sub-system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Theoretical curve: datasheet parameters only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Tuned curve: after fitting B_eq,c, η_g, η_m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Tuned model matches the measured Bode plot within a few dB across the band of interest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Residual mismatch at high frequency → unmodelled dynamics (friction, motor electrical)</a:t>
            </a:r>
          </a:p>
        </p:txBody>
      </p:sp>
      <p:pic>
        <p:nvPicPr>
          <p:cNvPr id="8" name="Picture 7" descr="bode_comparison_meas_tuned_the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3035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596127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C7585"/>
                </a:solidFill>
              </a:rPr>
              <a:t>Bode: measured vs. theoretical vs. tuned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9/21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 Validation — Time Domain (2 Hz)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Low-frequency excitation: 2 Hz sinusoidal input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Regime dominated by the integrator + damping → test of the tuned gain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Tuned model tracks amplitude and phase of the measurement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Small steady-state offset attributed to stiction / Coulomb friction</a:t>
            </a:r>
          </a:p>
        </p:txBody>
      </p:sp>
      <p:pic>
        <p:nvPicPr>
          <p:cNvPr id="8" name="Picture 7" descr="time_comparison_2hz_real_tuned_m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3035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596127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C7585"/>
                </a:solidFill>
              </a:rPr>
              <a:t>Time response — 2 Hz excitation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10/21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Model Validation — Time Domain (8 Hz)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Higher-frequency excitation: 8 Hz sinusoidal input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Regime dominated by inertia and electrical dynamics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Tuned model still captures envelope; small phase lag appears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Consistent with the residual high-frequency gap seen in the Bode plot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•   Conclusion: tuned model is accurate enough for control design</a:t>
            </a:r>
          </a:p>
        </p:txBody>
      </p:sp>
      <p:pic>
        <p:nvPicPr>
          <p:cNvPr id="8" name="Picture 7" descr="time_comparison_8hz_real_tuned_m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5303520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5596127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C7585"/>
                </a:solidFill>
              </a:rPr>
              <a:t>Time response — 8 Hz excitation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11/21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Experience 1 — Cart Position Control (PID)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Team (lead: TBD)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Objective: regulate cart position x_c with the seesaw locked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Design approach: loop-shaping on the tuned model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Specifications (to confirm): bandwidth, overshoot, steady-state error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controller parameters (K_p, K_i, K_d)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step response — simulation vs. experiment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disturbance rejection test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12/21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Experience 2 — Body Stabilization (Horizontal)</a:t>
            </a:r>
          </a:p>
          <a:p>
            <a:r>
              <a:rPr sz="1600" i="1">
                <a:solidFill>
                  <a:srgbClr val="6C7585"/>
                </a:solidFill>
              </a:rPr>
              <a:t>Why state feedback is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Kaipeng / Yawen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Goal: keep seesaw angle θ ≈ 0 while the cart rests on top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Open-loop horizontal equilibrium is unstable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Single-output PID on θ is not enough: the cart position drifts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Need multi-variable control: state feedback on (x_c, θ, ẋ_c, θ̇)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Two design routes explored: LQR and pole 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13/21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LQR — Design and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Kaipeng / Yawen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Minimize quadratic cost  J = ∫ (xᵀQx + uᵀRu) dt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Weighting matrices: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Q — penalizes state deviations (x_c, θ, ẋ_c, θ̇)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R — penalizes control effort (motor voltage)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Tuning procedure we followed: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initial Q, R values and rationale ]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iterations / Bryson's rule / manual adjustments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Solve continuous-time ARE → feedback gain 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final K matrix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14/21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LQR —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Kaipeng / Yawen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closed-loop pole locations with K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simulation — response to initial θ perturbation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experiment — real-plant response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comparison sim vs. experiment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Discussion: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what works well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failure modes observed (saturation, noise, coupling)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15/21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Pole-Placement State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Kaipeng / Yawen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Alternative route: directly prescribe closed-loop pole locations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Desired poles chosen for target settling time / damping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Ackermann / place() on (A, B)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target vs. achieved pole locations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simulation + experimental response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Trade-off vs. LQR: transparent spec, but less systematic on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16/21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Other Control Strategies Explored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cascade / inner-outer loop attempt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observer-based feedback (Luenberger / Kalman) — status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integral action augmentation for steady-state accuracy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[ ADD: anti-windup, saturation handling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For each strategy note:  motivation  →  implementation status  →  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17/21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Experience 3 — Trajectory Tracking &amp; Lift-up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Periodic reference for the seesaw body: sinusoidal θ_ref(t)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Lift-up task: drive seesaw from rest toward the horizontal equilibrium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Requires reference tracking + disturbance rejection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Status: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current progress ]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open issues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18/21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Challenges and Lessons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Modelling: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Friction is the dominant unmodelled effect at low speeds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Parameter uncertainty addressed via targeted tuning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Control: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actuator saturation at large θ ]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sensor noise amplified by derivative terms ]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coupling sensitivity — small Q changes move θ/x_c trade-off ]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Workflow: systematic pipeline model → simulate → deploy → compare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19/21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Status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Karim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Done: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model derived, tuned and validated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PID cart control working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LQR designed and tested in simulation / on rig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In progress: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pole placement comparison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Experience 3 tracking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Planned: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observer-based / integral-augmented control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222B38"/>
                </a:solidFill>
              </a:rPr>
              <a:t>–   [ ADD: robustness analysis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20/21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2E5C"/>
                </a:solidFill>
              </a:rPr>
              <a:t>Thank you — Questions?</a:t>
            </a:r>
          </a:p>
          <a:p>
            <a:r>
              <a:rPr sz="1600" i="1">
                <a:solidFill>
                  <a:srgbClr val="6C7585"/>
                </a:solidFill>
              </a:rPr>
              <a:t>The Seesaw Team  —  Politecnico di Milano  —  054702 Automation and Control Laboratory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658368"/>
            <a:ext cx="365760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/>
          <a:lstStyle/>
          <a:p>
            <a:pPr algn="l"/>
            <a:r>
              <a:rPr sz="1100" b="1">
                <a:solidFill>
                  <a:srgbClr val="F5A623"/>
                </a:solidFill>
              </a:rPr>
              <a:t>OWNER:  </a:t>
            </a:r>
            <a:r>
              <a:rPr sz="1100">
                <a:solidFill>
                  <a:srgbClr val="222B38"/>
                </a:solidFill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Team:  Negm Karim  ·  Hu Kaipeng  ·  Yan Yawen  ·  Zeep Nathan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Supervisors:  Prof. Ruiz Fredy, Cordoba Andres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22B38"/>
                </a:solidFill>
              </a:rPr>
              <a:t>•   Back-up slides follow (extra plots, derivations, parameter tables).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000">
                <a:solidFill>
                  <a:srgbClr val="6C7585"/>
                </a:solidFill>
              </a:rPr>
              <a:t>Seesaw — Automation and Control Laboratory   |   Politecnico di Milano   |   21/21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